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878150-b73a-0a0d-26e4-17a5062d4454}">
          <p14:sldIdLst>
            <p14:sldId id="256"/>
            <p14:sldId id="257"/>
          </p14:sldIdLst>
        </p14:section>
        <p14:section name="Solution" id="{28b1bb47-60fa-a2b2-4d79-bfb3b645747d}">
          <p14:sldIdLst>
            <p14:sldId id="258"/>
            <p14:sldId id="259"/>
            <p14:sldId id="260"/>
          </p14:sldIdLst>
        </p14:section>
        <p14:section name="Evidence" id="{9afca310-e628-8010-e18a-38ca1d6e5e94}">
          <p14:sldIdLst>
            <p14:sldId id="261"/>
            <p14:sldId id="262"/>
            <p14:sldId id="263"/>
          </p14:sldIdLst>
        </p14:section>
        <p14:section name="Use" id="{c78d4d77-b9c0-4bef-54f2-500d09b8c64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53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532D"/>
                </a:solidFill>
                <a:latin typeface="+mn-lt"/>
              </a:rPr>
              <a:t>Mean absolute error in eGFR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Next result</c:v>
                </c:pt>
              </c:strCache>
            </c:strRef>
          </c:tx>
          <c:spPr>
            <a:solidFill>
              <a:srgbClr val="1F6F4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NephroTwin</c:v>
                  </c:pt>
                  <c:pt idx="1">
                    <c:v>Last value</c:v>
                  </c:pt>
                  <c:pt idx="2">
                    <c:v>Patient mean</c:v>
                  </c:pt>
                  <c:pt idx="3">
                    <c:v>Straight line</c:v>
                  </c:pt>
                  <c:pt idx="4">
                    <c:v>Population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6.79</c:v>
                </c:pt>
                <c:pt idx="1">
                  <c:v>6.67</c:v>
                </c:pt>
                <c:pt idx="2">
                  <c:v>7.44</c:v>
                </c:pt>
                <c:pt idx="3">
                  <c:v>8.93</c:v>
                </c:pt>
                <c:pt idx="4">
                  <c:v>19.46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year or more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NephroTwin</c:v>
                  </c:pt>
                  <c:pt idx="1">
                    <c:v>Last value</c:v>
                  </c:pt>
                  <c:pt idx="2">
                    <c:v>Patient mean</c:v>
                  </c:pt>
                  <c:pt idx="3">
                    <c:v>Straight line</c:v>
                  </c:pt>
                  <c:pt idx="4">
                    <c:v>Population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8.8</c:v>
                </c:pt>
                <c:pt idx="1">
                  <c:v>8.57</c:v>
                </c:pt>
                <c:pt idx="2">
                  <c:v>8.84</c:v>
                </c:pt>
                <c:pt idx="3">
                  <c:v>22.15</c:v>
                </c:pt>
                <c:pt idx="4">
                  <c:v>23.95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NephroTwin · decision support, not medical advice ·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NephroTwin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personal digital twin of kidney function for early detection and management of chronic kidney disease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Team ScaleX  ·  IIM Calcutta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CKD is silent, common in India, and judged one noisy result at a time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101 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Indians with diabetes (ICMR-INDIAB-17, 2023)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136 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prediabetes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~315 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148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hypertension, the other leading cause of CKD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Kidney function falls for years without symptoms; many people are diagnosed late.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single eGFR value is noisy: a real decline is easy to miss and a one-off bad result is easy to over-react to.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Clinicians need the trajectory: where this person is heading, how sure we are, and what would change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twin, not a risk score: six properties shown in the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 state per patient: current eGFR and slope.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Continuously updated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Bayesian (Kalman) update after every result.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481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9202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Forecast eGFR; P(eGFR &lt; 30) and P(eGFR &lt; 15).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Simulatable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What-if care plans with trial-based effects.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Conformal 80% intervals, checked on unseen patients.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3904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Two-way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3434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Recorded plans are compared with later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</a:t>
            </a:r>
            <a:endParaRPr lang="en-US" sz="2800" dirty="0"/>
          </a:p>
        </p:txBody>
      </p:sp>
      <p:pic>
        <p:nvPicPr>
          <p:cNvPr id="3" name="Image 0" descr="/home/claude/repo/nephrotwin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10515600" cy="5138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the twin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Clinical engine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32588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eGFR by CKD-EPI 2021 (race-free) · KDIGO 2024 staging · KFRE 4-variable where valid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13432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Population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31343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Hierarchical prior over starting eGFR and slope · EM fit · shrinkage chosen by cross-validation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00984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 twin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300984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State-space model [eGFR, slope] · robust Kalman update · atypical results flagged for repeat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8853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What-if simulator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288536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SGLT2i, ACEi/ARB, GLP-1 RA, BP target · triangular effect ranges from trials · paired Monte Carlo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76088"/>
            <a:ext cx="2926080" cy="804672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760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527608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Groq LLM (openai/gpt-oss-120b) writes patient and clinician notes from computed facts only · template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Data: synthetic patients, cleaned like real records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404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patients after cleaning (Synthea v4.0.0, ages 40-85)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4,274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outpatient creatinine results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 yrs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 follow-up per patient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21%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CKD G3 or worse at entry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Acute-care results excluded (6,712): hospital values reflect acute kidney injury, not chronic function.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Creatinine that contradicts the lab eGFR in the same visit removed (7,412). Without this, healthy people look like severe CKD.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Follow-up stops at dialysis or transplant (1,541 results); isolated spikes removed (103).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Names and identity numbers are never read; only pseudonymous IDs leave the pipeline.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 on 121 unseen test patients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258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35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Beats straight-line extrapolation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2.1 points better next result; 13.4 points better at 1 year+ (95% CIs exclude zero).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2926080"/>
            <a:ext cx="4206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035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Ties last value carried forward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Difference not significant. Stable synthetic cohort makes this baseline strong.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452628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4636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 uncertainty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5074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82% of next results and 84% at 1 year+ fell inside the 80% interval.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twin learns each patient as results arrive</a:t>
            </a:r>
            <a:endParaRPr lang="en-US" sz="2800" dirty="0"/>
          </a:p>
        </p:txBody>
      </p:sp>
      <p:pic>
        <p:nvPicPr>
          <p:cNvPr id="3" name="Image 0" descr="/home/claude/repo/nephrotwin/reports/figures/example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4472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After 2 results the forecast leans on the population and is wide; after 5 it narrows; after 27 it tracks the decline and projects crossing eGFR 30.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Event prediction (eGFR below 30 at about 2 years): AUROC 0.93 vs 0.58 for the population model, but only 5 events, so preliminary.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What-if care plans and plain-language summaries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Slower decline (range)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SGLT2 inhibitor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30% to 55%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DAPA-CKD, EMPA-KIDNEY, DAPA advKD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ACE inhibitor / ARB optimisation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5% to 25%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RENAAL, IDNT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GLP-1 RA (semaglutide)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20% to 40%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FLOW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Blood pressure to target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0% to 20%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KDIGO 2021 BP guideline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71600"/>
            <a:ext cx="4206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81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Usual care vs plan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92024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arms use identical random draws, so the gap reflects the plan. Output: eGFR difference and kidney-failure probability, each with a range.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0" y="3703320"/>
            <a:ext cx="42062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38130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2519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 and clinician summaries from computed numbers only. No diagnosis, no dosing. Works without a key through a fixed template.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062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Scenarios show trial averages applied to this twin, not personal predictions of treatment response.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Limitations, safeguards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0" cy="484632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Synthetic US-modelled data with mostly stable kidney function.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Few progression events, so event metrics are preliminary.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Treatment effects are trial averages.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 yet validated on Indian patients.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25880"/>
            <a:ext cx="3657600" cy="484632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Safeguards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real patient data; identity fields never read.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Atypical results flagged for repeat testing.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KFRE labelled outside its validated range.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Decision support only; shown on every screen.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2588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7F0EA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35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874520"/>
            <a:ext cx="3154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 on an Indian CKD cohort with ethics approval.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Calibrate eGFR and KFRE for Indian populations.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Connect to ABDM-linked lab results through FHIR, under DPDP Act 2023 consent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phroTwin">
  <a:themeElements>
    <a:clrScheme name="NephroTwin">
      <a:dk1>
        <a:srgbClr val="1A1A1A"/>
      </a:dk1>
      <a:lt1>
        <a:srgbClr val="FFFFFF"/>
      </a:lt1>
      <a:dk2>
        <a:srgbClr val="14532D"/>
      </a:dk2>
      <a:lt2>
        <a:srgbClr val="F2F6F3"/>
      </a:lt2>
      <a:accent1>
        <a:srgbClr val="1F6F43"/>
      </a:accent1>
      <a:accent2>
        <a:srgbClr val="D08C2E"/>
      </a:accent2>
      <a:accent3>
        <a:srgbClr val="6C5B7B"/>
      </a:accent3>
      <a:accent4>
        <a:srgbClr val="5B8DB8"/>
      </a:accent4>
      <a:accent5>
        <a:srgbClr val="9AA5B1"/>
      </a:accent5>
      <a:accent6>
        <a:srgbClr val="C0392B"/>
      </a:accent6>
      <a:hlink>
        <a:srgbClr val="1155CC"/>
      </a:hlink>
      <a:folHlink>
        <a:srgbClr val="6C5B7B"/>
      </a:folHlink>
    </a:clrScheme>
    <a:fontScheme name="Nephro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NephroTwin: a personal kidney-function digital twin</dc:title>
  <dc:subject>PptxGenJS Presentation</dc:subject>
  <dc:creator>PptxGenJS</dc:creator>
  <cp:lastModifiedBy>PptxGenJS</cp:lastModifiedBy>
  <cp:revision>1</cp:revision>
  <dcterms:created xsi:type="dcterms:W3CDTF">2026-10-20T08:04:23Z</dcterms:created>
  <dcterms:modified xsi:type="dcterms:W3CDTF">2026-10-20T08:04:23Z</dcterms:modified>
</cp:coreProperties>
</file>