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7878150-b73a-0a0d-26e4-17a5062d4454}">
          <p14:sldIdLst>
            <p14:sldId id="256"/>
            <p14:sldId id="257"/>
          </p14:sldIdLst>
        </p14:section>
        <p14:section name="Solution" id="{28b1bb47-60fa-a2b2-4d79-bfb3b645747d}">
          <p14:sldIdLst>
            <p14:sldId id="258"/>
            <p14:sldId id="259"/>
            <p14:sldId id="260"/>
          </p14:sldIdLst>
        </p14:section>
        <p14:section name="Evidence" id="{9afca310-e628-8010-e18a-38ca1d6e5e94}">
          <p14:sldIdLst>
            <p14:sldId id="261"/>
            <p14:sldId id="262"/>
            <p14:sldId id="263"/>
          </p14:sldIdLst>
        </p14:section>
        <p14:section name="Use" id="{c78d4d77-b9c0-4bef-54f2-500d09b8c64e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532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532D"/>
                </a:solidFill>
                <a:latin typeface="+mn-lt"/>
              </a:rPr>
              <a:t>Mean absolute error in eGFR (lower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Next result</c:v>
                </c:pt>
              </c:strCache>
            </c:strRef>
          </c:tx>
          <c:spPr>
            <a:solidFill>
              <a:srgbClr val="1F6F4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NephroTwin</c:v>
                  </c:pt>
                  <c:pt idx="1">
                    <c:v>Last value</c:v>
                  </c:pt>
                  <c:pt idx="2">
                    <c:v>Patient mean</c:v>
                  </c:pt>
                  <c:pt idx="3">
                    <c:v>Straight line</c:v>
                  </c:pt>
                  <c:pt idx="4">
                    <c:v>Population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6.79</c:v>
                </c:pt>
                <c:pt idx="1">
                  <c:v>6.67</c:v>
                </c:pt>
                <c:pt idx="2">
                  <c:v>7.44</c:v>
                </c:pt>
                <c:pt idx="3">
                  <c:v>8.93</c:v>
                </c:pt>
                <c:pt idx="4">
                  <c:v>19.46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 year or more</c:v>
                </c:pt>
              </c:strCache>
            </c:strRef>
          </c:tx>
          <c:spPr>
            <a:solidFill>
              <a:srgbClr val="9AA5B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NephroTwin</c:v>
                  </c:pt>
                  <c:pt idx="1">
                    <c:v>Last value</c:v>
                  </c:pt>
                  <c:pt idx="2">
                    <c:v>Patient mean</c:v>
                  </c:pt>
                  <c:pt idx="3">
                    <c:v>Straight line</c:v>
                  </c:pt>
                  <c:pt idx="4">
                    <c:v>Population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8.8</c:v>
                </c:pt>
                <c:pt idx="1">
                  <c:v>8.57</c:v>
                </c:pt>
                <c:pt idx="2">
                  <c:v>8.84</c:v>
                </c:pt>
                <c:pt idx="3">
                  <c:v>22.15</c:v>
                </c:pt>
                <c:pt idx="4">
                  <c:v>23.95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8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77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NephroTwin · decision support, not medical advice · synthetic data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NephroTwin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A personal digital twin of kidney function for early detection and management of chronic kidney disease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[Team name]  ·  [Institute]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CKD is silent, common in India, and judged one noisy result at a time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101 M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Indians with diabetes (ICMR-INDIAB-17, 2023)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343400" y="13716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136 M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343400" y="21488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with prediabetes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138160" y="13716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~315 M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21488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with hypertension, the other leading cause of CKD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91840"/>
            <a:ext cx="11064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Kidney function falls for years without symptoms; many people are diagnosed late.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single eGFR value is noisy: a real decline is easy to miss and a one-off bad result is easy to over-react to.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Clinicians need the trajectory: where this person is heading, how sure we are, and what would change it.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 twin, not a risk score: six properties shown in the demo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8132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Personal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Own state per patient: current eGFR and slope.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97680" y="1371600"/>
            <a:ext cx="352044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80560" y="148132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Continuously updated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192024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Bayesian (Kalman) update after every result.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46720" y="1371600"/>
            <a:ext cx="352044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0" y="148132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Predictive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192024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Forecast eGFR; P(eGFR &lt; 30) and P(eGFR &lt; 15).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352044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90448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Simulatable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34340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What-if care plans with trial-based effects.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97680" y="3794760"/>
            <a:ext cx="352044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80560" y="390448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Honest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434340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Conformal 80% intervals, checked on unseen patients.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46720" y="3794760"/>
            <a:ext cx="352044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0" y="390448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Two-way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34340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Recorded plans are compared with later results.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Architecture</a:t>
            </a:r>
            <a:endParaRPr lang="en-US" sz="2800" dirty="0"/>
          </a:p>
        </p:txBody>
      </p:sp>
      <p:pic>
        <p:nvPicPr>
          <p:cNvPr id="3" name="Image 0" descr="/home/claude/repo/nephrotwin/doc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88720"/>
            <a:ext cx="10515600" cy="513892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How the twin works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926080" cy="804672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2926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Clinical engine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1325880"/>
            <a:ext cx="7955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eGFR by CKD-EPI 2021 (race-free) · KDIGO 2024 staging · KFRE 4-variable where valid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13432"/>
            <a:ext cx="2926080" cy="804672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13432"/>
            <a:ext cx="2926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Population model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2313432"/>
            <a:ext cx="7955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Hierarchical prior over starting eGFR and slope · EM fit · shrinkage chosen by cross-validation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300984"/>
            <a:ext cx="2926080" cy="804672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00984"/>
            <a:ext cx="2926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Personal twin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3300984"/>
            <a:ext cx="7955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State-space model [eGFR, slope] · robust Kalman update · atypical results flagged for repeat test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288536"/>
            <a:ext cx="2926080" cy="804672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88536"/>
            <a:ext cx="2926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What-if simulator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4288536"/>
            <a:ext cx="7955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SGLT2i, ACEi/ARB, GLP-1 RA, BP target · triangular effect ranges from trials · paired Monte Carlo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276088"/>
            <a:ext cx="2926080" cy="804672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276088"/>
            <a:ext cx="2926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Explanation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5276088"/>
            <a:ext cx="7955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Groq LLM (openai/gpt-oss-120b) writes patient and clinician notes from computed facts only · template fallback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Data: synthetic patients, cleaned like real records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404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patients after cleaning (Synthea v4.0.0, ages 40-85)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429000" y="13258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4,274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3429000" y="21031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outpatient creatinine results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3258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9 yrs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1031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median follow-up per patient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89720" y="13258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21%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9189720" y="21031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CKD G3 or worse at entry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200400"/>
            <a:ext cx="11064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Acute-care results excluded (6,712): hospital values reflect acute kidney injury, not chronic function.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Creatinine that contradicts the lab eGFR in the same visit removed (7,412). Without this, healthy people look like severe CKD.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Follow-up stops at dialysis or transplant (1,541 results); isolated spikes removed (103).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Names and identity numbers are never read; only pseudonymous IDs leave the pipeline.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Results on 121 unseen test patients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34440"/>
          <a:ext cx="676656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498080" y="1325880"/>
            <a:ext cx="4206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680960" y="14356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Beats straight-line extrapolation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680960" y="18745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2.1 points better next result; 13.4 points better at 1 year+ (95% CIs exclude zero).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498080" y="2926080"/>
            <a:ext cx="4206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680960" y="30358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Ties last value carried forward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34747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Difference not significant. Stable synthetic cohort makes this baseline strong.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98080" y="4526280"/>
            <a:ext cx="4206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680960" y="46360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Honest uncertainty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680960" y="507492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82% of next results and 84% at 1 year+ fell inside the 80% interval.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twin learns each patient as results arrive</a:t>
            </a:r>
            <a:endParaRPr lang="en-US" sz="2800" dirty="0"/>
          </a:p>
        </p:txBody>
      </p:sp>
      <p:pic>
        <p:nvPicPr>
          <p:cNvPr id="3" name="Image 0" descr="/home/claude/repo/nephrotwin/reports/figures/example_tw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11247120" cy="34472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8920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After 2 results the forecast leans on the population and is wide; after 5 it narrows; after 27 it tracks the decline and projects crossing eGFR 30.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Event prediction (eGFR below 30 at about 2 years): AUROC 0.93 vs 0.58 for the population model, but only 5 events, so preliminary.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What-if care plans and plain-language summaries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5836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737360"/>
                <a:gridCol w="24688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Slower decline (range)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Evidence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4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SGLT2 inhibitor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30% to 55%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DAPA-CKD, EMPA-KIDNEY, DAPA advKD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ACE inhibitor / ARB optimisation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5% to 25%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RENAAL, IDNT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GLP-1 RA (semaglutide)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20% to 40%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FLOW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Blood pressure to target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0% to 20%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KDIGO 2021 BP guideline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498080" y="1371600"/>
            <a:ext cx="42062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680960" y="14813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Usual care vs plan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680960" y="1920240"/>
            <a:ext cx="3840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Both arms use identical random draws, so the gap reflects the plan. Output: eGFR difference and kidney-failure probability, each with a range.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498080" y="3703320"/>
            <a:ext cx="42062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680960" y="38130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Explanation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425196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Patient and clinician summaries from computed numbers only. No diagnosis, no dosing. Works without a key through a fixed template.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20624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Scenarios show trial averages applied to this twin, not personal predictions of treatment response.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Limitations, safeguards and 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657600" cy="484632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356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Limitations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3291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Synthetic US-modelled data with mostly stable kidney function.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Few progression events, so event metrics are preliminary.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Treatment effects are trial averages.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Not yet validated on Indian patients.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43400" y="1325880"/>
            <a:ext cx="3657600" cy="484632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6280" y="14356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Safeguards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1874520"/>
            <a:ext cx="3291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 real patient data; identity fields never read.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Atypical results flagged for repeat testing.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KFRE labelled outside its validated range.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Decision support only; shown on every screen.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38160" y="1325880"/>
            <a:ext cx="3520440" cy="4846320"/>
          </a:xfrm>
          <a:prstGeom prst="roundRect">
            <a:avLst>
              <a:gd name="adj" fmla="val 2078"/>
            </a:avLst>
          </a:prstGeom>
          <a:solidFill>
            <a:srgbClr val="E7F0EA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43560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Next steps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1874520"/>
            <a:ext cx="3154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Validate on an Indian CKD cohort with ethics approval.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Calibrate eGFR and KFRE for Indian populations.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Connect to ABDM-linked lab results through FHIR, under DPDP Act 2023 consent rules.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phroTwin">
  <a:themeElements>
    <a:clrScheme name="NephroTwin">
      <a:dk1>
        <a:srgbClr val="1A1A1A"/>
      </a:dk1>
      <a:lt1>
        <a:srgbClr val="FFFFFF"/>
      </a:lt1>
      <a:dk2>
        <a:srgbClr val="14532D"/>
      </a:dk2>
      <a:lt2>
        <a:srgbClr val="F2F6F3"/>
      </a:lt2>
      <a:accent1>
        <a:srgbClr val="1F6F43"/>
      </a:accent1>
      <a:accent2>
        <a:srgbClr val="D08C2E"/>
      </a:accent2>
      <a:accent3>
        <a:srgbClr val="6C5B7B"/>
      </a:accent3>
      <a:accent4>
        <a:srgbClr val="5B8DB8"/>
      </a:accent4>
      <a:accent5>
        <a:srgbClr val="9AA5B1"/>
      </a:accent5>
      <a:accent6>
        <a:srgbClr val="C0392B"/>
      </a:accent6>
      <a:hlink>
        <a:srgbClr val="1155CC"/>
      </a:hlink>
      <a:folHlink>
        <a:srgbClr val="6C5B7B"/>
      </a:folHlink>
    </a:clrScheme>
    <a:fontScheme name="NephroTwi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NephroTwin: a personal kidney-function digital twin</dc:title>
  <dc:subject>PptxGenJS Presentation</dc:subject>
  <dc:creator>PptxGenJS</dc:creator>
  <cp:lastModifiedBy>PptxGenJS</cp:lastModifiedBy>
  <cp:revision>1</cp:revision>
  <dcterms:created xsi:type="dcterms:W3CDTF">2026-10-20T08:04:23Z</dcterms:created>
  <dcterms:modified xsi:type="dcterms:W3CDTF">2026-10-20T08:04:23Z</dcterms:modified>
</cp:coreProperties>
</file>